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300"/>
    <a:srgbClr val="FF5757"/>
    <a:srgbClr val="FF3030"/>
    <a:srgbClr val="004AAD"/>
    <a:srgbClr val="37B6FF"/>
    <a:srgbClr val="8C52FF"/>
    <a:srgbClr val="FF65C3"/>
    <a:srgbClr val="41719C"/>
    <a:srgbClr val="000099"/>
    <a:srgbClr val="102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59" autoAdjust="0"/>
    <p:restoredTop sz="94660"/>
  </p:normalViewPr>
  <p:slideViewPr>
    <p:cSldViewPr snapToGrid="0">
      <p:cViewPr>
        <p:scale>
          <a:sx n="33" d="100"/>
          <a:sy n="33" d="100"/>
        </p:scale>
        <p:origin x="1944" y="-114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9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75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8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51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7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1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52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92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1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4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5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793FE-9174-4BCA-8FC1-2C151984D1DA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6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18"/>
            <a:ext cx="32399288" cy="935059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AFB5A10-A559-4D17-99B2-3CC9C0D04BCF}"/>
              </a:ext>
            </a:extLst>
          </p:cNvPr>
          <p:cNvSpPr txBox="1">
            <a:spLocks/>
          </p:cNvSpPr>
          <p:nvPr/>
        </p:nvSpPr>
        <p:spPr>
          <a:xfrm>
            <a:off x="426100" y="9947052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671933-630F-4FCA-8667-8E4238A4EDEC}"/>
              </a:ext>
            </a:extLst>
          </p:cNvPr>
          <p:cNvSpPr txBox="1">
            <a:spLocks/>
          </p:cNvSpPr>
          <p:nvPr/>
        </p:nvSpPr>
        <p:spPr>
          <a:xfrm>
            <a:off x="476899" y="23428334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FB5A10-A559-4D17-99B2-3CC9C0D04BCF}"/>
              </a:ext>
            </a:extLst>
          </p:cNvPr>
          <p:cNvSpPr txBox="1">
            <a:spLocks/>
          </p:cNvSpPr>
          <p:nvPr/>
        </p:nvSpPr>
        <p:spPr>
          <a:xfrm>
            <a:off x="476899" y="29985921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671933-630F-4FCA-8667-8E4238A4EDEC}"/>
              </a:ext>
            </a:extLst>
          </p:cNvPr>
          <p:cNvSpPr txBox="1">
            <a:spLocks/>
          </p:cNvSpPr>
          <p:nvPr/>
        </p:nvSpPr>
        <p:spPr>
          <a:xfrm>
            <a:off x="16441920" y="27612577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AD87AE-89A6-52A1-29EC-4FE1447110BF}"/>
              </a:ext>
            </a:extLst>
          </p:cNvPr>
          <p:cNvSpPr txBox="1">
            <a:spLocks/>
          </p:cNvSpPr>
          <p:nvPr/>
        </p:nvSpPr>
        <p:spPr>
          <a:xfrm>
            <a:off x="16441920" y="34490510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6581435" y="1492062"/>
            <a:ext cx="14456404" cy="229075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TLens: Óculos de Projeção de Texto para Comunicação Assistiva 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18419205" y="4958328"/>
            <a:ext cx="11352275" cy="3398751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dirty="0"/>
              <a:t>Cássio Egídio Gomes Vicente</a:t>
            </a:r>
          </a:p>
          <a:p>
            <a:r>
              <a:rPr lang="pt-BR" altLang="pt-BR" sz="7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Gabriel Anjos de Almeida</a:t>
            </a:r>
            <a:endParaRPr lang="pt-BR" altLang="pt-BR" sz="7200" dirty="0">
              <a:latin typeface="Arial" panose="020B0604020202020204" pitchFamily="34" charset="0"/>
            </a:endParaRPr>
          </a:p>
          <a:p>
            <a:r>
              <a:rPr lang="pt-BR" dirty="0"/>
              <a:t>Guilherme Vinicius de Oliveira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FA82F67-3523-276C-B2AA-278576E57B20}"/>
              </a:ext>
            </a:extLst>
          </p:cNvPr>
          <p:cNvCxnSpPr/>
          <p:nvPr/>
        </p:nvCxnSpPr>
        <p:spPr>
          <a:xfrm>
            <a:off x="426100" y="9752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C274BA-817C-D096-1099-8F0540A508CE}"/>
              </a:ext>
            </a:extLst>
          </p:cNvPr>
          <p:cNvCxnSpPr/>
          <p:nvPr/>
        </p:nvCxnSpPr>
        <p:spPr>
          <a:xfrm>
            <a:off x="494963" y="40716609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A93710-CB4B-0668-ECFE-84545658FC60}"/>
              </a:ext>
            </a:extLst>
          </p:cNvPr>
          <p:cNvSpPr txBox="1"/>
          <p:nvPr/>
        </p:nvSpPr>
        <p:spPr>
          <a:xfrm>
            <a:off x="470877" y="10910467"/>
            <a:ext cx="15428854" cy="12480340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TLens consiste em um sistema IoT vestível integrado a um par de óculos, capaz de captar a fala e projetar sua transcrição diretamente nas lentes, oferecendo uma solução acessível para pessoas com perda auditiva total ou parcial. O projeto parte da necessidade de superar barreiras comunicacionais ainda muito presentes no cotidiano dos surdos, já que tecnologias assistivas existentes são, em grande parte, caras, complexas e inacessíveis para a população.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Segundo o Guia de Orientação na Avaliação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Audiológica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da Sociedade Brasileira de Fonoaudiologia (2023), a deficiência auditiva compromete a compreensão da fala, tornando essenciais estratégias alternativas de entendimento. Somado a isso,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Stelling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et al. (2014) destacam que a falta de uma língua comum entre surdos e ouvintes gera isolamento e dificulta o diálogo. Nesse contexto, o TLens busca democratizar o acesso a um recurso simples, funcional e de baixo custo, reduzindo a dependência de terceiros e a limitação causada pela falta de domínio da Libras.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sistema inclui um aplicativo móvel para controle do dispositivo e um protótipo físico leve e prático. Com base no avanço da Internet das Coisas (IoT), o projeto propõe uma solução que promova maior autonomia, permitindo que pessoas com deficiência auditiva participem de forma mais ativa em ambientes sociais, educacionais e profissionais.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Assim, o TLens busca contribuir para a inclusão social, oferecendo uma tecnologia assistiva acessível, moderna e facilitadora da comunicação entre surdos e ouvintes.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54287B0-A21A-78B4-3CBA-D9CEBE20D85F}"/>
              </a:ext>
            </a:extLst>
          </p:cNvPr>
          <p:cNvSpPr txBox="1"/>
          <p:nvPr/>
        </p:nvSpPr>
        <p:spPr>
          <a:xfrm>
            <a:off x="426099" y="24353610"/>
            <a:ext cx="15428854" cy="5632311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fundamenta-se em diretrizes metodológicas que orientam os procedimentos utilizados na investigação das necessidades comunicacionais de pessoas com deficiência auditiva. Com o objetivo de desenvolver um protótipo funcional para a resolução do problema de comunicação enfrentado por esse público, adotou-se a pesquisa qualitativa, definida por Lakatos e Marconi (2017) como um método capaz de compreender de forma profunda as necessidades de determinados grupos sociais. Essa abordagem mostrou-se adequada ao propósito do estudo, pois permite interpretar percepções, dificuldades e vivências relacionadas às interações sociais de indivíduos com perda auditiva.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388992-DCE4-D0EF-E469-0A343607D02E}"/>
              </a:ext>
            </a:extLst>
          </p:cNvPr>
          <p:cNvSpPr txBox="1"/>
          <p:nvPr/>
        </p:nvSpPr>
        <p:spPr>
          <a:xfrm>
            <a:off x="477368" y="30993889"/>
            <a:ext cx="15428854" cy="924868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sistema TLens foi projetado para captar o som ambiente por meio de um microfone integrado nos óculos, processar a fala por meio de um modelo de reconhecimento de voz baseado em inteligência artificial e exibir o texto transcrito no visor localizado na parte superior da armação. Por meio de uma técnica de refração de lentes denominada Bird Bath, o texto é projetado diretamente sobre a lente, criando um efeito de realidade aumentada que permite o usuário visualizar as legendas sem interferir na visualização do ambiente ao seu redor.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A etapa de modelagem 3D do protótipo foi fundamental para validar o design, o conforto e a viabilidade da disposição dos módulos de hardware, garantindo uma estrutura leve, ergonômica e adequada ao uso. Utilizando o software Fusion 360, foram realizados testes de tamanho e usabilidade até a definição do modelo final, composto por oito peças que se encaixam entre si. A estrutura inclui compartimentos específicos para a placa de processamento, baterias, módulo de exibição, regulador de tensão Step-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, controlador de carga, placa de som USB, microfone, armação principal e lentes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semirrefletivas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responsáveis pela projeção óptica.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35BE276-FC47-F1C1-0E1D-77FFDFA38504}"/>
              </a:ext>
            </a:extLst>
          </p:cNvPr>
          <p:cNvSpPr txBox="1"/>
          <p:nvPr/>
        </p:nvSpPr>
        <p:spPr>
          <a:xfrm>
            <a:off x="16126792" y="15909973"/>
            <a:ext cx="15428854" cy="5478423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A interface do usuário (UI) e o aplicativo foram desenvolvidos com o intuito de serem de fácil navegação e compreensão. O aplicativo funciona como uma extensão do IoT, contemplando funções extras como o histórico das transcrições, opções de mudança de fonte, notificações e visualização do nível da bateria do dispositivo.</a:t>
            </a:r>
          </a:p>
          <a:p>
            <a:pPr algn="just"/>
            <a:endParaRPr lang="pt-PT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PT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DB8B333-66E3-08E4-00AE-30C1ACDE326B}"/>
              </a:ext>
            </a:extLst>
          </p:cNvPr>
          <p:cNvSpPr txBox="1"/>
          <p:nvPr/>
        </p:nvSpPr>
        <p:spPr>
          <a:xfrm>
            <a:off x="16467493" y="35430719"/>
            <a:ext cx="15428854" cy="4724370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SOCIEDADE BRASILEIRA DE FONOAUDIOLOGIA. </a:t>
            </a: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Guia de orientação na avaliação </a:t>
            </a:r>
            <a:r>
              <a:rPr lang="pt-BR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audiológica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. São Paulo: 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SBFa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, 2023. Disponível em: https://fonoaudiologia.org.br/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wp-content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/uploads/2023/11/Guia-de-Orientacao-naAvaliacao-Audiologica-DIGITAL-COMPLETO-FINAL.pdf. Acesso em: 11 nov. 2025. </a:t>
            </a:r>
          </a:p>
          <a:p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STELLING, Esmeralda Peçanha et al</a:t>
            </a: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. Pais ouvintes e filho surdo: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dificuldades de comunicação e necessidade de orientação familiar. Revista Espaço, Rio de Janeiro, n. 42, p. 15–25, jul./dez. 2014. </a:t>
            </a:r>
          </a:p>
          <a:p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/>
              <a:t>MARCONI, Marina de Andrade; LAKATOS, Eva Maria.</a:t>
            </a:r>
            <a:r>
              <a:rPr lang="pt-BR" sz="2800" b="1" dirty="0"/>
              <a:t> Fundamentos de metodologia científica</a:t>
            </a:r>
            <a:r>
              <a:rPr lang="pt-BR" sz="2800" dirty="0"/>
              <a:t>. 8. ed. São Paulo: Atlas, 2017.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DD6CEF0-4195-06BB-E3F6-0B6E3B133CB8}"/>
              </a:ext>
            </a:extLst>
          </p:cNvPr>
          <p:cNvSpPr txBox="1"/>
          <p:nvPr/>
        </p:nvSpPr>
        <p:spPr>
          <a:xfrm>
            <a:off x="16347025" y="28475296"/>
            <a:ext cx="15428854" cy="6555641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TLens, em seu estágio atual, se propõe a reduzir as barreiras relacionais da comunicação usando tecnologias. O TLens se destaca por promover acessibilidade e inclusão social, permitindo que pessoas com deficiência auditiva interajam de forma mais autônoma e natural. Durante os testes, o sistema apresentou desempenho satisfatório na exibição das legendas transcritas, demonstrando sua viabilidade como ferramenta assistiva.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Como resultado, o projeto originou um par de óculos capaz de transcrever o áudio ambiente e exibir o texto diretamente nas lentes. Dessa forma, o projeto reafirma o potencial das tecnologias IoT na criação de soluções acessíveis voltadas à inclusão.</a:t>
            </a:r>
          </a:p>
          <a:p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E67AF63-8667-635A-BF46-35A3729B08EC}"/>
              </a:ext>
            </a:extLst>
          </p:cNvPr>
          <p:cNvSpPr txBox="1"/>
          <p:nvPr/>
        </p:nvSpPr>
        <p:spPr>
          <a:xfrm>
            <a:off x="0" y="2919066"/>
            <a:ext cx="11360431" cy="240065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5000" dirty="0" err="1">
                <a:solidFill>
                  <a:srgbClr val="004AAD"/>
                </a:solidFill>
                <a:latin typeface="Arial Black" panose="020B0A04020102020204" pitchFamily="34" charset="0"/>
              </a:rPr>
              <a:t>Mtec</a:t>
            </a:r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 em </a:t>
            </a:r>
          </a:p>
          <a:p>
            <a:pPr algn="ctr"/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Desenvolvimento de Sistemas AMS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21085109" y="8406200"/>
            <a:ext cx="5449056" cy="70788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4000" dirty="0"/>
              <a:t>Jeferson Roberto de Lima</a:t>
            </a:r>
            <a:endParaRPr lang="pt-BR" dirty="0"/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9" y="40991117"/>
            <a:ext cx="31312351" cy="2059729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5C2FDD9-6108-C745-A64C-75AA31E98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792" y="41028644"/>
            <a:ext cx="5421761" cy="204346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24" y="5562407"/>
            <a:ext cx="5178582" cy="3264367"/>
          </a:xfrm>
          <a:prstGeom prst="rect">
            <a:avLst/>
          </a:prstGeom>
        </p:spPr>
      </p:pic>
      <p:sp>
        <p:nvSpPr>
          <p:cNvPr id="29" name="CaixaDeTexto 28"/>
          <p:cNvSpPr txBox="1"/>
          <p:nvPr/>
        </p:nvSpPr>
        <p:spPr>
          <a:xfrm>
            <a:off x="19901446" y="18733643"/>
            <a:ext cx="8560946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Figura 2 – Principais telas do aplicativo TLens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1582291" y="15450191"/>
            <a:ext cx="5199257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Fonte: Do próprio autor (2025)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60EFB1-BC44-90A0-B9D4-3912B66C6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205" y="6014406"/>
            <a:ext cx="11833176" cy="119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714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BD41EE5-6E66-CFB9-735C-D01A3EF0F1EA}"/>
              </a:ext>
            </a:extLst>
          </p:cNvPr>
          <p:cNvSpPr txBox="1"/>
          <p:nvPr/>
        </p:nvSpPr>
        <p:spPr>
          <a:xfrm>
            <a:off x="20590256" y="9832175"/>
            <a:ext cx="7010172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Figura 1 – Modelo 3D dos óculos TLens</a:t>
            </a:r>
          </a:p>
        </p:txBody>
      </p:sp>
      <p:pic>
        <p:nvPicPr>
          <p:cNvPr id="34" name="Imagem 3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A289ABA-6D8E-76F2-4469-C73C141E25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6986" y="19423606"/>
            <a:ext cx="12963974" cy="729241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9BBE9C-0D6A-9330-0266-A20FFD8FC2F0}"/>
              </a:ext>
            </a:extLst>
          </p:cNvPr>
          <p:cNvSpPr txBox="1"/>
          <p:nvPr/>
        </p:nvSpPr>
        <p:spPr>
          <a:xfrm>
            <a:off x="21655755" y="26813562"/>
            <a:ext cx="5052327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Fonte: Do próprio autor (2025)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3632A87-49A6-8A7C-4B37-81BEE3C9C778}"/>
              </a:ext>
            </a:extLst>
          </p:cNvPr>
          <p:cNvSpPr txBox="1"/>
          <p:nvPr/>
        </p:nvSpPr>
        <p:spPr>
          <a:xfrm>
            <a:off x="7942007" y="20995866"/>
            <a:ext cx="16296966" cy="119154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54E8F879-2BD4-1876-91F6-F11AC69059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03112" y="10321335"/>
            <a:ext cx="5945994" cy="50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17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>
          <a:glow rad="127000">
            <a:schemeClr val="bg1">
              <a:alpha val="0"/>
            </a:schemeClr>
          </a:glow>
          <a:outerShdw blurRad="50800" dist="50800" dir="5400000" algn="ctr" rotWithShape="0">
            <a:srgbClr val="000000">
              <a:alpha val="0"/>
            </a:srgbClr>
          </a:outerShdw>
        </a:effectLst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4B8C388CB6DD44A360E8CAEA0AE064" ma:contentTypeVersion="1" ma:contentTypeDescription="Crie um novo documento." ma:contentTypeScope="" ma:versionID="d4ea0535b7efbf76528d940d5d08931c">
  <xsd:schema xmlns:xsd="http://www.w3.org/2001/XMLSchema" xmlns:xs="http://www.w3.org/2001/XMLSchema" xmlns:p="http://schemas.microsoft.com/office/2006/metadata/properties" xmlns:ns2="5436247b-871b-45d3-adc3-f6c0f6d71200" targetNamespace="http://schemas.microsoft.com/office/2006/metadata/properties" ma:root="true" ma:fieldsID="1f5f5d7707489f66a280248c544df69c" ns2:_="">
    <xsd:import namespace="5436247b-871b-45d3-adc3-f6c0f6d71200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6247b-871b-45d3-adc3-f6c0f6d7120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436247b-871b-45d3-adc3-f6c0f6d71200" xsi:nil="true"/>
  </documentManagement>
</p:properties>
</file>

<file path=customXml/itemProps1.xml><?xml version="1.0" encoding="utf-8"?>
<ds:datastoreItem xmlns:ds="http://schemas.openxmlformats.org/officeDocument/2006/customXml" ds:itemID="{30D354B2-BC4F-4330-B5B5-A2F2F65DC5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36247b-871b-45d3-adc3-f6c0f6d712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40B1BE-4E25-4097-8B9A-7F110AD4C9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58F92E-CECE-4136-8089-8229A358083E}">
  <ds:schemaRefs>
    <ds:schemaRef ds:uri="http://schemas.microsoft.com/office/2006/metadata/properties"/>
    <ds:schemaRef ds:uri="http://schemas.microsoft.com/office/infopath/2007/PartnerControls"/>
    <ds:schemaRef ds:uri="5436247b-871b-45d3-adc3-f6c0f6d712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1676</TotalTime>
  <Words>920</Words>
  <Application>Microsoft Office PowerPoint</Application>
  <PresentationFormat>Personalizar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Leandro Pedroza</dc:creator>
  <cp:lastModifiedBy>cassio egidio gomes vicente</cp:lastModifiedBy>
  <cp:revision>47</cp:revision>
  <cp:lastPrinted>2023-05-23T23:18:43Z</cp:lastPrinted>
  <dcterms:created xsi:type="dcterms:W3CDTF">2018-10-09T21:24:59Z</dcterms:created>
  <dcterms:modified xsi:type="dcterms:W3CDTF">2025-11-18T20:41:26Z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0x010100E14B8C388CB6DD44A360E8CAEA0AE064</vt:lpwstr>
  </property>
</Properties>
</file>